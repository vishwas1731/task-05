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9874" y="268631"/>
            <a:ext cx="7772400" cy="1470025"/>
          </a:xfrm>
        </p:spPr>
        <p:txBody>
          <a:bodyPr/>
          <a:lstStyle/>
          <a:p>
            <a:r>
              <a:rPr dirty="0"/>
              <a:t>Exploratory Data Analysis on Titanic Dataset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10406"/>
            <a:ext cx="6400800" cy="1752600"/>
          </a:xfrm>
        </p:spPr>
        <p:txBody>
          <a:bodyPr>
            <a:normAutofit/>
          </a:bodyPr>
          <a:lstStyle/>
          <a:p>
            <a:r>
              <a:rPr dirty="0">
                <a:solidFill>
                  <a:schemeClr val="tx1"/>
                </a:solidFill>
              </a:rPr>
              <a:t>Vishwas</a:t>
            </a:r>
            <a:r>
              <a:rPr lang="en-IN" dirty="0">
                <a:solidFill>
                  <a:schemeClr val="tx1"/>
                </a:solidFill>
              </a:rPr>
              <a:t> K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Using Python (Pandas, Matplotlib, Seaborn)</a:t>
            </a:r>
          </a:p>
        </p:txBody>
      </p:sp>
      <p:pic>
        <p:nvPicPr>
          <p:cNvPr id="1026" name="Picture 2" descr="Titanic Dataset">
            <a:extLst>
              <a:ext uri="{FF2B5EF4-FFF2-40B4-BE49-F238E27FC236}">
                <a16:creationId xmlns:a16="http://schemas.microsoft.com/office/drawing/2014/main" id="{DF2D87C6-71A8-2FAA-3257-FB90EFADF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678" y="1819373"/>
            <a:ext cx="5222450" cy="24910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</a:t>
            </a:r>
          </a:p>
          <a:p>
            <a:r>
              <a:t>Extract insights using visual and statistical exploration.</a:t>
            </a:r>
          </a:p>
          <a:p>
            <a:endParaRPr/>
          </a:p>
          <a:p>
            <a:r>
              <a:t>Tools Used:</a:t>
            </a:r>
          </a:p>
          <a:p>
            <a:r>
              <a:t>Python, Pandas, Matplotlib, Seaborn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Titanic Dataset</a:t>
            </a:r>
          </a:p>
          <a:p>
            <a:r>
              <a:t>Rows: 891</a:t>
            </a:r>
          </a:p>
          <a:p>
            <a:r>
              <a:t>Columns: 12</a:t>
            </a:r>
          </a:p>
          <a:p>
            <a:endParaRPr/>
          </a:p>
          <a:p>
            <a:r>
              <a:t>Contains missing values in Age, Cabin, and Embarked columns.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Histogram – 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9"/>
            <a:ext cx="7630998" cy="2126840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Insert Histogram Image Here</a:t>
            </a:r>
          </a:p>
          <a:p>
            <a:pPr marL="0" indent="0">
              <a:buNone/>
            </a:pPr>
            <a:r>
              <a:rPr dirty="0"/>
              <a:t>Observation:</a:t>
            </a:r>
          </a:p>
          <a:p>
            <a:r>
              <a:rPr dirty="0"/>
              <a:t>Most passengers are between 20–40 years.</a:t>
            </a:r>
          </a:p>
          <a:p>
            <a:r>
              <a:rPr dirty="0"/>
              <a:t>Few passengers above 60 years.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6E2CFA-0257-E54E-D883-130223B23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000" y="3429000"/>
            <a:ext cx="5002731" cy="338689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Histogram – Fare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0263"/>
            <a:ext cx="8229600" cy="2406192"/>
          </a:xfrm>
        </p:spPr>
        <p:txBody>
          <a:bodyPr/>
          <a:lstStyle/>
          <a:p>
            <a:r>
              <a:rPr dirty="0"/>
              <a:t>Insert Histogram Image Here</a:t>
            </a:r>
          </a:p>
          <a:p>
            <a:pPr marL="0" indent="0">
              <a:buNone/>
            </a:pPr>
            <a:r>
              <a:rPr dirty="0"/>
              <a:t>Observation:</a:t>
            </a:r>
          </a:p>
          <a:p>
            <a:r>
              <a:rPr dirty="0"/>
              <a:t>Fare is right-skewed with many low values and few high-value outliers.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3C17E8-1793-B952-C9E1-B4C9B4827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867" y="3450341"/>
            <a:ext cx="4658224" cy="313302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Boxplot – Fare vs Survival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3129"/>
            <a:ext cx="8229600" cy="2434472"/>
          </a:xfrm>
        </p:spPr>
        <p:txBody>
          <a:bodyPr/>
          <a:lstStyle/>
          <a:p>
            <a:r>
              <a:rPr dirty="0"/>
              <a:t>Insert Boxplot Image Here</a:t>
            </a:r>
          </a:p>
          <a:p>
            <a:pPr marL="0" indent="0">
              <a:buNone/>
            </a:pPr>
            <a:r>
              <a:rPr dirty="0"/>
              <a:t>Observation:</a:t>
            </a:r>
          </a:p>
          <a:p>
            <a:r>
              <a:rPr dirty="0"/>
              <a:t>Survivors have higher median fare compared to non-survivors.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5925C1-40A3-4AA1-B652-9A3761345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660" y="3429000"/>
            <a:ext cx="4134897" cy="29208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Scatterplot – Age vs Fare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188" y="1443562"/>
            <a:ext cx="8229600" cy="2255363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Insert Scatterplot Image Here</a:t>
            </a:r>
          </a:p>
          <a:p>
            <a:pPr marL="0" indent="0">
              <a:buNone/>
            </a:pPr>
            <a:r>
              <a:rPr dirty="0"/>
              <a:t>Observation:</a:t>
            </a:r>
          </a:p>
          <a:p>
            <a:r>
              <a:rPr dirty="0"/>
              <a:t>No strong linear relationship between Age and Fare.</a:t>
            </a:r>
          </a:p>
          <a:p>
            <a:r>
              <a:rPr dirty="0"/>
              <a:t>Survivors cluster more in high-fare region.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A82F02-C610-DC00-BAD0-DC7A05F4A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824" y="3616670"/>
            <a:ext cx="4416123" cy="288723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Pairplot – Feature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468" y="1405855"/>
            <a:ext cx="8229600" cy="2085680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Insert </a:t>
            </a:r>
            <a:r>
              <a:rPr dirty="0" err="1"/>
              <a:t>Pairplot</a:t>
            </a:r>
            <a:r>
              <a:rPr dirty="0"/>
              <a:t> Image Here</a:t>
            </a:r>
          </a:p>
          <a:p>
            <a:pPr marL="0" indent="0">
              <a:buNone/>
            </a:pPr>
            <a:r>
              <a:rPr dirty="0"/>
              <a:t>Observation:</a:t>
            </a:r>
          </a:p>
          <a:p>
            <a:r>
              <a:rPr dirty="0"/>
              <a:t>Fare and </a:t>
            </a:r>
            <a:r>
              <a:rPr dirty="0" err="1"/>
              <a:t>Pclass</a:t>
            </a:r>
            <a:r>
              <a:rPr dirty="0"/>
              <a:t> show strong relationship with survival.</a:t>
            </a:r>
          </a:p>
          <a:p>
            <a:r>
              <a:rPr dirty="0"/>
              <a:t>Age shows weak relationship.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AEC8F9-DB8F-F270-2444-5B649D5FB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76" y="3177339"/>
            <a:ext cx="5615678" cy="315747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Heatmap – Correlation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86440"/>
            <a:ext cx="8229600" cy="2330777"/>
          </a:xfrm>
        </p:spPr>
        <p:txBody>
          <a:bodyPr/>
          <a:lstStyle/>
          <a:p>
            <a:r>
              <a:rPr dirty="0"/>
              <a:t>Insert Heatmap Image Here</a:t>
            </a:r>
          </a:p>
          <a:p>
            <a:pPr marL="0" indent="0">
              <a:buNone/>
            </a:pPr>
            <a:r>
              <a:rPr dirty="0"/>
              <a:t>Observation:</a:t>
            </a:r>
          </a:p>
          <a:p>
            <a:r>
              <a:rPr dirty="0"/>
              <a:t>Survival positively correlated with Fare and negatively with </a:t>
            </a:r>
            <a:r>
              <a:rPr dirty="0" err="1"/>
              <a:t>Pclass</a:t>
            </a:r>
            <a:r>
              <a:rPr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1D846B-A803-834D-EC49-64BC51E58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031" y="3339795"/>
            <a:ext cx="4246316" cy="34475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6880-8084-B22E-DE66-F4BD757D6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32" y="-130714"/>
            <a:ext cx="8229600" cy="1143000"/>
          </a:xfrm>
        </p:spPr>
        <p:txBody>
          <a:bodyPr/>
          <a:lstStyle/>
          <a:p>
            <a:r>
              <a:rPr lang="en-IN" dirty="0"/>
              <a:t>Relationships and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BF61A-734C-27B6-5842-996D45673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38" y="459557"/>
            <a:ext cx="8625524" cy="526251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GB" sz="1800" b="1" dirty="0"/>
          </a:p>
          <a:p>
            <a:pPr marL="0" indent="0">
              <a:buNone/>
            </a:pPr>
            <a:r>
              <a:rPr lang="en-GB" sz="1800" b="1" dirty="0"/>
              <a:t>1. Relationship between Passenger Class and Survival</a:t>
            </a:r>
            <a:endParaRPr lang="en-GB" sz="1800" dirty="0"/>
          </a:p>
          <a:p>
            <a:pPr marL="0" indent="0">
              <a:buNone/>
            </a:pPr>
            <a:r>
              <a:rPr lang="en-GB" sz="1800" dirty="0"/>
              <a:t>Strong negative correlation between </a:t>
            </a:r>
            <a:r>
              <a:rPr lang="en-GB" sz="1800" dirty="0" err="1"/>
              <a:t>Pclass</a:t>
            </a:r>
            <a:r>
              <a:rPr lang="en-GB" sz="1800" dirty="0"/>
              <a:t> and Survived.</a:t>
            </a:r>
          </a:p>
          <a:p>
            <a:pPr marL="0" indent="0">
              <a:buNone/>
            </a:pPr>
            <a:r>
              <a:rPr lang="en-GB" sz="1800" dirty="0"/>
              <a:t>Passengers in </a:t>
            </a:r>
            <a:r>
              <a:rPr lang="en-GB" sz="1800" b="1" dirty="0"/>
              <a:t>1st class</a:t>
            </a:r>
            <a:r>
              <a:rPr lang="en-GB" sz="1800" dirty="0"/>
              <a:t> had a much higher survival rate than those in </a:t>
            </a:r>
            <a:r>
              <a:rPr lang="en-GB" sz="1800" b="1" dirty="0"/>
              <a:t>2nd and 3rd class</a:t>
            </a:r>
            <a:r>
              <a:rPr lang="en-GB" sz="1800" dirty="0"/>
              <a:t>.</a:t>
            </a:r>
          </a:p>
          <a:p>
            <a:pPr marL="0" indent="0">
              <a:buNone/>
            </a:pPr>
            <a:r>
              <a:rPr lang="en-GB" sz="1800" b="1" dirty="0"/>
              <a:t>Interpretation:</a:t>
            </a:r>
            <a:br>
              <a:rPr lang="en-GB" sz="1800" dirty="0"/>
            </a:br>
            <a:r>
              <a:rPr lang="en-GB" sz="1800" dirty="0"/>
              <a:t>Higher socio-economic status increased the chance of survival.</a:t>
            </a:r>
          </a:p>
          <a:p>
            <a:pPr marL="0" indent="0">
              <a:buNone/>
            </a:pPr>
            <a:br>
              <a:rPr lang="en-GB" sz="1800" dirty="0"/>
            </a:br>
            <a:r>
              <a:rPr lang="en-GB" sz="1800" b="1" dirty="0"/>
              <a:t>🔹 2. Relationship between Fare and Survival</a:t>
            </a:r>
            <a:endParaRPr lang="en-GB" sz="1800" dirty="0"/>
          </a:p>
          <a:p>
            <a:pPr marL="0" indent="0">
              <a:buNone/>
            </a:pPr>
            <a:r>
              <a:rPr lang="en-GB" sz="1800" dirty="0"/>
              <a:t>Positive correlation between Fare and Survived.</a:t>
            </a:r>
          </a:p>
          <a:p>
            <a:pPr marL="0" indent="0">
              <a:buNone/>
            </a:pPr>
            <a:r>
              <a:rPr lang="en-GB" sz="1800" dirty="0"/>
              <a:t>Passengers who paid higher fares were more likely to survive.</a:t>
            </a:r>
          </a:p>
          <a:p>
            <a:pPr marL="0" indent="0">
              <a:buNone/>
            </a:pPr>
            <a:r>
              <a:rPr lang="en-GB" sz="1800" b="1" dirty="0"/>
              <a:t>Interpretation:</a:t>
            </a:r>
            <a:br>
              <a:rPr lang="en-GB" sz="1800" dirty="0"/>
            </a:br>
            <a:r>
              <a:rPr lang="en-GB" sz="1800" dirty="0"/>
              <a:t>Fare is indirectly linked to passenger class and access to lifeboats.</a:t>
            </a:r>
          </a:p>
          <a:p>
            <a:pPr marL="0" indent="0">
              <a:buNone/>
            </a:pPr>
            <a:br>
              <a:rPr lang="en-GB" sz="1800" dirty="0"/>
            </a:br>
            <a:r>
              <a:rPr lang="en-GB" sz="1800" b="1" dirty="0"/>
              <a:t>🔹 3. Relationship between Age and Survival</a:t>
            </a:r>
            <a:endParaRPr lang="en-GB" sz="1800" dirty="0"/>
          </a:p>
          <a:p>
            <a:pPr marL="0" indent="0">
              <a:buNone/>
            </a:pPr>
            <a:r>
              <a:rPr lang="en-GB" sz="1800" dirty="0"/>
              <a:t>Weak correlation between Age and Survived.</a:t>
            </a:r>
          </a:p>
          <a:p>
            <a:pPr marL="0" indent="0">
              <a:buNone/>
            </a:pPr>
            <a:r>
              <a:rPr lang="en-GB" sz="1800" dirty="0"/>
              <a:t>However, children had a slightly higher survival probability than older adults.</a:t>
            </a:r>
          </a:p>
          <a:p>
            <a:pPr marL="0" indent="0">
              <a:buNone/>
            </a:pPr>
            <a:r>
              <a:rPr lang="en-GB" sz="1800" b="1" dirty="0"/>
              <a:t> Interpretation:</a:t>
            </a:r>
            <a:br>
              <a:rPr lang="en-GB" sz="1800" dirty="0"/>
            </a:br>
            <a:r>
              <a:rPr lang="en-GB" sz="1800" dirty="0"/>
              <a:t>Age alone is not a strong predictor, but young passengers benefited from rescue priority.</a:t>
            </a:r>
          </a:p>
          <a:p>
            <a:pPr marL="0" indent="0">
              <a:buNone/>
            </a:pPr>
            <a:br>
              <a:rPr lang="en-GB" sz="1800" dirty="0"/>
            </a:br>
            <a:endParaRPr lang="en-GB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932644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DE15D-D615-7A9C-BAB5-63187D770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Relationships and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51EE0-0893-6B44-13B2-4B17DDF96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6658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dirty="0"/>
              <a:t> </a:t>
            </a:r>
            <a:r>
              <a:rPr lang="en-IN" dirty="0"/>
              <a:t>🔹</a:t>
            </a:r>
            <a:r>
              <a:rPr lang="en-GB" b="1" dirty="0"/>
              <a:t>4. Gender Trend (from </a:t>
            </a:r>
            <a:r>
              <a:rPr lang="en-GB" b="1" dirty="0" err="1"/>
              <a:t>value_counts</a:t>
            </a:r>
            <a:r>
              <a:rPr lang="en-GB" b="1" dirty="0"/>
              <a:t> &amp; known patterns)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Females had a much higher survival rate compared to males.</a:t>
            </a:r>
          </a:p>
          <a:p>
            <a:pPr marL="0" indent="0">
              <a:buNone/>
            </a:pPr>
            <a:r>
              <a:rPr lang="en-GB" b="1" dirty="0"/>
              <a:t>Interpretation:</a:t>
            </a:r>
          </a:p>
          <a:p>
            <a:pPr marL="0" indent="0">
              <a:buNone/>
            </a:pPr>
            <a:r>
              <a:rPr lang="en-GB" dirty="0"/>
              <a:t>“Women and children first” policy influenced survival outcomes.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🔹 5. Combined Feature Trends (from </a:t>
            </a:r>
            <a:r>
              <a:rPr lang="en-GB" b="1" dirty="0" err="1"/>
              <a:t>Pairplot</a:t>
            </a:r>
            <a:r>
              <a:rPr lang="en-GB" b="1" dirty="0"/>
              <a:t>)</a:t>
            </a:r>
          </a:p>
          <a:p>
            <a:pPr marL="0" indent="0">
              <a:buNone/>
            </a:pPr>
            <a:r>
              <a:rPr lang="en-GB" b="1" dirty="0"/>
              <a:t>High Fare + 1st Class → High Survival</a:t>
            </a:r>
            <a:endParaRPr lang="en-GB" dirty="0"/>
          </a:p>
          <a:p>
            <a:pPr marL="0" indent="0">
              <a:buNone/>
            </a:pPr>
            <a:r>
              <a:rPr lang="en-GB" b="1" dirty="0"/>
              <a:t>Low Fare + 3rd Class → Low Survival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Survivors cluster more in higher fare ranges.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🔹 6. Correlation Heatmap Summary</a:t>
            </a:r>
          </a:p>
          <a:p>
            <a:pPr marL="0" indent="0">
              <a:buNone/>
            </a:pPr>
            <a:r>
              <a:rPr lang="en-GB" dirty="0"/>
              <a:t>Survived vs </a:t>
            </a:r>
            <a:r>
              <a:rPr lang="en-GB" dirty="0" err="1"/>
              <a:t>Pclass</a:t>
            </a:r>
            <a:r>
              <a:rPr lang="en-GB" dirty="0"/>
              <a:t>: </a:t>
            </a:r>
            <a:r>
              <a:rPr lang="en-GB" b="1" dirty="0"/>
              <a:t>moderate negative correlation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Survived vs Fare: </a:t>
            </a:r>
            <a:r>
              <a:rPr lang="en-GB" b="1" dirty="0"/>
              <a:t>moderate positive correlation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Survived vs Age: </a:t>
            </a:r>
            <a:r>
              <a:rPr lang="en-GB" b="1" dirty="0"/>
              <a:t>weak correlation</a:t>
            </a:r>
            <a:endParaRPr lang="en-GB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8220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114"/>
            <a:ext cx="8229600" cy="1143000"/>
          </a:xfrm>
        </p:spPr>
        <p:txBody>
          <a:bodyPr/>
          <a:lstStyle/>
          <a:p>
            <a:r>
              <a:rPr dirty="0"/>
              <a:t>Summary of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3763"/>
            <a:ext cx="8229600" cy="5752707"/>
          </a:xfrm>
        </p:spPr>
        <p:txBody>
          <a:bodyPr>
            <a:noAutofit/>
          </a:bodyPr>
          <a:lstStyle/>
          <a:p>
            <a:r>
              <a:rPr lang="en-GB" sz="1600" b="1" dirty="0"/>
              <a:t>Summary of Findings</a:t>
            </a:r>
          </a:p>
          <a:p>
            <a:r>
              <a:rPr lang="en-GB" sz="1600" dirty="0"/>
              <a:t>The dataset contains missing values, particularly in the </a:t>
            </a:r>
            <a:r>
              <a:rPr lang="en-GB" sz="1600" b="1" dirty="0"/>
              <a:t>Age</a:t>
            </a:r>
            <a:r>
              <a:rPr lang="en-GB" sz="1600" dirty="0"/>
              <a:t>, </a:t>
            </a:r>
            <a:r>
              <a:rPr lang="en-GB" sz="1600" b="1" dirty="0"/>
              <a:t>Cabin</a:t>
            </a:r>
            <a:r>
              <a:rPr lang="en-GB" sz="1600" dirty="0"/>
              <a:t>, and </a:t>
            </a:r>
            <a:r>
              <a:rPr lang="en-GB" sz="1600" b="1" dirty="0"/>
              <a:t>Embarked</a:t>
            </a:r>
            <a:r>
              <a:rPr lang="en-GB" sz="1600" dirty="0"/>
              <a:t> columns, indicating the need for data cleaning before </a:t>
            </a:r>
            <a:r>
              <a:rPr lang="en-GB" sz="1600" dirty="0" err="1"/>
              <a:t>modeling</a:t>
            </a:r>
            <a:r>
              <a:rPr lang="en-GB" sz="1600" dirty="0"/>
              <a:t>.</a:t>
            </a:r>
          </a:p>
          <a:p>
            <a:r>
              <a:rPr lang="en-GB" sz="1600" dirty="0"/>
              <a:t>The overall survival rate is approximately </a:t>
            </a:r>
            <a:r>
              <a:rPr lang="en-GB" sz="1600" b="1" dirty="0"/>
              <a:t>38%</a:t>
            </a:r>
            <a:r>
              <a:rPr lang="en-GB" sz="1600" dirty="0"/>
              <a:t>, showing that most passengers did not survive the disaster.</a:t>
            </a:r>
          </a:p>
          <a:p>
            <a:r>
              <a:rPr lang="en-GB" sz="1600" b="1" dirty="0"/>
              <a:t>Passenger class (</a:t>
            </a:r>
            <a:r>
              <a:rPr lang="en-GB" sz="1600" b="1" dirty="0" err="1"/>
              <a:t>Pclass</a:t>
            </a:r>
            <a:r>
              <a:rPr lang="en-GB" sz="1600" b="1" dirty="0"/>
              <a:t>)</a:t>
            </a:r>
            <a:r>
              <a:rPr lang="en-GB" sz="1600" dirty="0"/>
              <a:t> has a strong relationship with survival:</a:t>
            </a:r>
          </a:p>
          <a:p>
            <a:pPr lvl="1"/>
            <a:r>
              <a:rPr lang="en-GB" sz="1600" dirty="0"/>
              <a:t>First-class passengers had the highest survival rate.</a:t>
            </a:r>
          </a:p>
          <a:p>
            <a:pPr lvl="1"/>
            <a:r>
              <a:rPr lang="en-GB" sz="1600" dirty="0"/>
              <a:t>Third-class passengers had the lowest survival rate.</a:t>
            </a:r>
          </a:p>
          <a:p>
            <a:r>
              <a:rPr lang="en-GB" sz="1600" b="1" dirty="0"/>
              <a:t>Fare</a:t>
            </a:r>
            <a:r>
              <a:rPr lang="en-GB" sz="1600" dirty="0"/>
              <a:t> is positively correlated with survival:</a:t>
            </a:r>
          </a:p>
          <a:p>
            <a:pPr lvl="1"/>
            <a:r>
              <a:rPr lang="en-GB" sz="1600" dirty="0"/>
              <a:t>Passengers who paid higher fares were more likely to survive.</a:t>
            </a:r>
          </a:p>
          <a:p>
            <a:pPr lvl="1"/>
            <a:r>
              <a:rPr lang="en-GB" sz="1600" dirty="0"/>
              <a:t>Fare distribution is highly right-skewed with several high-value outliers.</a:t>
            </a:r>
          </a:p>
          <a:p>
            <a:r>
              <a:rPr lang="en-GB" sz="1600" b="1" dirty="0"/>
              <a:t>Gender</a:t>
            </a:r>
            <a:r>
              <a:rPr lang="en-GB" sz="1600" dirty="0"/>
              <a:t> plays a significant role in survival:</a:t>
            </a:r>
          </a:p>
          <a:p>
            <a:pPr lvl="1"/>
            <a:r>
              <a:rPr lang="en-GB" sz="1600" dirty="0"/>
              <a:t>Female passengers survived at a much higher rate than male passengers.</a:t>
            </a:r>
          </a:p>
          <a:p>
            <a:r>
              <a:rPr lang="en-GB" sz="1600" b="1" dirty="0"/>
              <a:t>Age</a:t>
            </a:r>
            <a:r>
              <a:rPr lang="en-GB" sz="1600" dirty="0"/>
              <a:t> has a weak correlation with survival:</a:t>
            </a:r>
          </a:p>
          <a:p>
            <a:pPr lvl="1"/>
            <a:r>
              <a:rPr lang="en-GB" sz="1600" dirty="0"/>
              <a:t>Children and younger passengers had slightly better survival chances.</a:t>
            </a:r>
          </a:p>
          <a:p>
            <a:pPr lvl="1"/>
            <a:r>
              <a:rPr lang="en-GB" sz="1600" dirty="0"/>
              <a:t>Age alone is not a strong predictor compared to class and fare.</a:t>
            </a:r>
          </a:p>
          <a:p>
            <a:r>
              <a:rPr lang="en-GB" sz="1600" dirty="0"/>
              <a:t>Visual analysis (</a:t>
            </a:r>
            <a:r>
              <a:rPr lang="en-GB" sz="1600" dirty="0" err="1"/>
              <a:t>pairplot</a:t>
            </a:r>
            <a:r>
              <a:rPr lang="en-GB" sz="1600" dirty="0"/>
              <a:t> and scatterplots) shows clear clustering of survivors in the </a:t>
            </a:r>
            <a:r>
              <a:rPr lang="en-GB" sz="1600" b="1" dirty="0"/>
              <a:t>high-fare and first-class groups</a:t>
            </a:r>
            <a:r>
              <a:rPr lang="en-GB" sz="1600" dirty="0"/>
              <a:t>.</a:t>
            </a:r>
          </a:p>
          <a:p>
            <a:r>
              <a:rPr lang="en-GB" sz="1600" dirty="0"/>
              <a:t>Correlation heatmap confirms that </a:t>
            </a:r>
            <a:r>
              <a:rPr lang="en-GB" sz="1600" b="1" dirty="0" err="1"/>
              <a:t>Pclass</a:t>
            </a:r>
            <a:r>
              <a:rPr lang="en-GB" sz="1600" b="1" dirty="0"/>
              <a:t> and Fare</a:t>
            </a:r>
            <a:r>
              <a:rPr lang="en-GB" sz="1600" dirty="0"/>
              <a:t> are the most influential numerical features related to survival, while Age shows minimal impact.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820970"/>
          </a:xfrm>
        </p:spPr>
        <p:txBody>
          <a:bodyPr/>
          <a:lstStyle/>
          <a:p>
            <a:r>
              <a:rPr dirty="0"/>
              <a:t>EDA shows that survival on Titanic depended mainly on:</a:t>
            </a:r>
          </a:p>
          <a:p>
            <a:r>
              <a:rPr dirty="0"/>
              <a:t>Passenger Class, Fare, and Gender.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dirty="0"/>
              <a:t>These insights can guide predictive modeling.</a:t>
            </a:r>
          </a:p>
        </p:txBody>
      </p:sp>
      <p:pic>
        <p:nvPicPr>
          <p:cNvPr id="2050" name="Picture 2" descr="Thank You Clipart | Customize Color ...">
            <a:extLst>
              <a:ext uri="{FF2B5EF4-FFF2-40B4-BE49-F238E27FC236}">
                <a16:creationId xmlns:a16="http://schemas.microsoft.com/office/drawing/2014/main" id="{0B8DC2B2-B9D8-F083-0273-65D747A94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0913" y="4221146"/>
            <a:ext cx="3175998" cy="17716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669</Words>
  <Application>Microsoft Office PowerPoint</Application>
  <PresentationFormat>On-screen Show (4:3)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Exploratory Data Analysis on Titanic Dataset</vt:lpstr>
      <vt:lpstr>Objective &amp; Tools</vt:lpstr>
      <vt:lpstr>Dataset Overview</vt:lpstr>
      <vt:lpstr>Histogram – Age Distribution</vt:lpstr>
      <vt:lpstr>Histogram – Fare Distribution</vt:lpstr>
      <vt:lpstr>Boxplot – Fare vs Survival</vt:lpstr>
      <vt:lpstr>Scatterplot – Age vs Fare</vt:lpstr>
      <vt:lpstr>Pairplot – Feature Relationships</vt:lpstr>
      <vt:lpstr>Heatmap – Correlation Matrix</vt:lpstr>
      <vt:lpstr>Relationships and Trends</vt:lpstr>
      <vt:lpstr>Relationships and Trends</vt:lpstr>
      <vt:lpstr>Summary of Findings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Vishwas K</cp:lastModifiedBy>
  <cp:revision>2</cp:revision>
  <dcterms:created xsi:type="dcterms:W3CDTF">2013-01-27T09:14:16Z</dcterms:created>
  <dcterms:modified xsi:type="dcterms:W3CDTF">2026-02-19T06:26:58Z</dcterms:modified>
  <cp:category/>
</cp:coreProperties>
</file>